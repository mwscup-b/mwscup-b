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5729544aed4d61" /><Relationship Type="http://schemas.openxmlformats.org/officeDocument/2006/relationships/extended-properties" Target="/docProps/app.xml" Id="Re9cd368d97314e4c" /><Relationship Type="http://schemas.openxmlformats.org/officeDocument/2006/relationships/officeDocument" Target="/ppt/presentation.xml" Id="Ref678b90354e44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33af68962d46f5"/>
  </p:sldMasterIdLst>
  <p:notesMasterIdLst>
    <p:notesMasterId xmlns:r="http://schemas.openxmlformats.org/officeDocument/2006/relationships" r:id="Ra537bda8978b443b"/>
  </p:notesMasterIdLst>
  <p:sldIdLst>
    <p:sldId xmlns:r="http://schemas.openxmlformats.org/officeDocument/2006/relationships" id="256" r:id="Rf5e42974745b41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046c1cccde4dc2" /><Relationship Type="http://schemas.openxmlformats.org/officeDocument/2006/relationships/slideMaster" Target="/ppt/slideMasters/slideMaster1.xml" Id="R8433af68962d46f5" /><Relationship Type="http://schemas.openxmlformats.org/officeDocument/2006/relationships/notesMaster" Target="/ppt/notesMasters/notesMaster1.xml" Id="Ra537bda8978b443b" /><Relationship Type="http://schemas.openxmlformats.org/officeDocument/2006/relationships/presProps" Target="/ppt/presProps.xml" Id="Radf163d4e57646a6" /><Relationship Type="http://schemas.openxmlformats.org/officeDocument/2006/relationships/tableStyles" Target="/ppt/tableStyles.xml" Id="Ref0344fc214544fb" /><Relationship Type="http://schemas.openxmlformats.org/officeDocument/2006/relationships/slide" Target="/ppt/slides/slide1.xml" Id="Rf5e42974745b41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de0d72672f4e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3107228a1846b9" /><Relationship Type="http://schemas.openxmlformats.org/officeDocument/2006/relationships/notesMaster" Target="/ppt/notesMasters/notesMaster1.xml" Id="Rca477e4fad4043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出典：MWS Cup公式サイトおよび公式YouTubeプレイリスト。</a:t>
            </a:r>
          </a:p>
          <a:p xmlns:a="http://schemas.openxmlformats.org/drawingml/2006/main">
            <a:r>
              <a:t>2022 https://www.youtube.com/playlist?list=PL8oKzzuKda41qxRh4UEIr_EcgLeMQRAOg</a:t>
            </a:r>
          </a:p>
          <a:p xmlns:a="http://schemas.openxmlformats.org/drawingml/2006/main">
            <a:r>
              <a:t>2023 https://www.youtube.com/playlist?list=PL8oKzzuKda41aSgeoPKDX5g1iUNZvNgiC</a:t>
            </a:r>
          </a:p>
          <a:p xmlns:a="http://schemas.openxmlformats.org/drawingml/2006/main">
            <a:r>
              <a:t>2024 https://www.youtube.com/playlist?list=PL8oKzzuKda43Fp7xdklHuEBKeuEu4sf_v</a:t>
            </a:r>
          </a:p>
          <a:p xmlns:a="http://schemas.openxmlformats.org/drawingml/2006/main">
            <a:r>
              <a:t>2025 https://www.youtube.com/playlist?list=PL8oKzzuKda42npg-MS4P28JobQEoFuguT</a:t>
            </a:r>
          </a:p>
          <a:p xmlns:a="http://schemas.openxmlformats.org/drawingml/2006/main">
            <a:r>
              <a:t>判定基準：タイトルまたは説明にゲームと明記、あるいはMinecraft・カードゲーム等のゲーム形式、ミッション・勝敗・挑戦・報酬等の進行を確認できた作品。2025年は内容不明作品をゲーム数に含めず、下限値として9件を採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9b5d2920a041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c9c40431774598" /><Relationship Type="http://schemas.openxmlformats.org/officeDocument/2006/relationships/slideLayout" Target="/ppt/slideLayouts/slideLayout1.xml" Id="R1d4721c618a149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4721c618a149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ae5dbc72e4b8e" /><Relationship Type="http://schemas.openxmlformats.org/officeDocument/2006/relationships/chart" Target="/ppt/slides/charts/chart1.xml" Id="Rcb49fdf96f424a4a" /><Relationship Type="http://schemas.openxmlformats.org/officeDocument/2006/relationships/notesSlide" Target="/ppt/notesSlides/notesSlide1.xml" Id="Rb576e53eb33b4af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ゲーム形式</c:v>
          </c:tx>
          <c:spPr>
            <a:solidFill xmlns:a="http://schemas.openxmlformats.org/drawingml/2006/main">
              <a:srgbClr val="2563EB"/>
            </a:solidFill>
            <a:ln xmlns:a="http://schemas.openxmlformats.org/drawingml/2006/main" w="0">
              <a:solidFill>
                <a:srgbClr val="2563EB"/>
              </a:solidFill>
            </a:ln>
          </c:spPr>
          <c:cat>
            <c:numLit>
              <c:formatCode>0</c:formatCode>
              <c:ptCount val="4"/>
              <c:pt idx="0">
                <c:v>2025</c:v>
              </c:pt>
              <c:pt idx="1">
                <c:v>2024</c:v>
              </c:pt>
              <c:pt idx="2">
                <c:v>2023</c:v>
              </c:pt>
              <c:pt idx="3">
                <c:v>2022</c:v>
              </c:pt>
            </c:numLit>
          </c:cat>
          <c:val>
            <c:numLit>
              <c:formatCode>General</c:formatCode>
              <c:ptCount val="4"/>
              <c:pt idx="0">
                <c:v>9</c:v>
              </c:pt>
              <c:pt idx="1">
                <c:v>1</c:v>
              </c:pt>
              <c:pt idx="2">
                <c:v>0</c:v>
              </c:pt>
              <c:pt idx="3">
                <c:v>0</c:v>
              </c:pt>
            </c:numLit>
          </c:val>
        </c:ser>
        <c:ser>
          <c:idx val="1"/>
          <c:order val="1"/>
          <c:tx>
            <c:v>その他</c:v>
          </c:tx>
          <c:spPr>
            <a:solidFill xmlns:a="http://schemas.openxmlformats.org/drawingml/2006/main">
              <a:srgbClr val="DCE3E8"/>
            </a:solidFill>
            <a:ln xmlns:a="http://schemas.openxmlformats.org/drawingml/2006/main" w="0">
              <a:solidFill>
                <a:srgbClr val="DCE3E8"/>
              </a:solidFill>
            </a:ln>
          </c:spPr>
          <c:cat>
            <c:numLit>
              <c:formatCode>0</c:formatCode>
              <c:ptCount val="4"/>
              <c:pt idx="0">
                <c:v>2025</c:v>
              </c:pt>
              <c:pt idx="1">
                <c:v>2024</c:v>
              </c:pt>
              <c:pt idx="2">
                <c:v>2023</c:v>
              </c:pt>
              <c:pt idx="3">
                <c:v>2022</c:v>
              </c:pt>
            </c:numLit>
          </c:cat>
          <c:val>
            <c:numLit>
              <c:formatCode>General</c:formatCode>
              <c:ptCount val="4"/>
              <c:pt idx="0">
                <c:v>9</c:v>
              </c:pt>
              <c:pt idx="1">
                <c:v>8</c:v>
              </c:pt>
              <c:pt idx="2">
                <c:v>12</c:v>
              </c:pt>
              <c:pt idx="3">
                <c:v>13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8242F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DE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C6B76"/>
                    </a:solidFill>
                    <a:latin typeface="Noto Sans JP"/>
                    <a:ea typeface="Noto Sans JP"/>
                    <a:cs typeface="Noto Sans JP"/>
                  </a:rPr>
                  <a:t>公開作品数（件）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C6B7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6DDE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B7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42F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8242F"/>
              </a:solidFill>
              <a:latin typeface="Noto Sans JP"/>
              <a:ea typeface="Noto Sans JP"/>
              <a:cs typeface="Noto Sans JP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8DA8B-463A-4F60-84AE-FF9851FB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42F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8242F"/>
                </a:solidFill>
                <a:latin typeface="Noto Sans JP"/>
                <a:ea typeface="Noto Sans JP"/>
                <a:cs typeface="Noto Sans JP"/>
              </a:rPr>
              <a:t>ゲーム形式の作品は2025年に急増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98EA1-4B2B-4CFB-A8DA-3375CBFB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B76"/>
                </a:solidFill>
                <a:latin typeface="Noto Sans JP"/>
                <a:ea typeface="Noto Sans JP"/>
                <a:cs typeface="Noto Sans JP"/>
              </a:defRPr>
            </a:pPr>
            <a:r>
              <a:rPr sz="1350">
                <a:solidFill>
                  <a:srgbClr val="5C6B76"/>
                </a:solidFill>
                <a:latin typeface="Noto Sans JP"/>
                <a:ea typeface="Noto Sans JP"/>
                <a:cs typeface="Noto Sans JP"/>
              </a:rPr>
              <a:t>公開作品を網羅して確認できる2022～2025年を比較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600200"/>
          <a:ext xmlns:a="http://schemas.openxmlformats.org/drawingml/2006/main" cx="842962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49fdf96f424a4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5BDAE-5A6C-44EA-A495-640869C4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14550"/>
            <a:ext cx="228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50%以上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7EB60-552E-4DA8-BE6B-B420A75D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05150"/>
            <a:ext cx="228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42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8242F"/>
                </a:solidFill>
                <a:latin typeface="Noto Sans JP"/>
                <a:ea typeface="Noto Sans JP"/>
                <a:cs typeface="Noto Sans JP"/>
              </a:rPr>
              <a:t>2025年は少なくとも</a:t>
            </a:r>
          </a:p>
          <a:p xmlns:a="http://schemas.openxmlformats.org/drawingml/2006/main">
            <a:pPr algn="ctr">
              <a:defRPr sz="1500" b="1">
                <a:solidFill>
                  <a:srgbClr val="18242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8242F"/>
                </a:solidFill>
                <a:latin typeface="Noto Sans JP"/>
                <a:ea typeface="Noto Sans JP"/>
                <a:cs typeface="Noto Sans JP"/>
              </a:rPr>
              <a:t>半数がゲーム形式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5FED7-8773-4712-8796-7AE16267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8242F"/>
                </a:solidFill>
                <a:latin typeface="Noto Sans JP"/>
                <a:ea typeface="Noto Sans JP"/>
                <a:cs typeface="Noto Sans JP"/>
              </a:defRPr>
            </a:pPr>
            <a:r>
              <a:rPr sz="1200">
                <a:solidFill>
                  <a:srgbClr val="18242F"/>
                </a:solidFill>
                <a:latin typeface="Noto Sans JP"/>
                <a:ea typeface="Noto Sans JP"/>
                <a:cs typeface="Noto Sans JP"/>
              </a:rPr>
              <a:t>ゲーム作品数／全公開作品数　2022：0／13　　2023：0／12　　2024：1／9　　2025：9以上／18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FC47D-2379-4038-8321-B6162A0E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C6B76"/>
                </a:solidFill>
                <a:latin typeface="Noto Sans JP"/>
                <a:ea typeface="Noto Sans JP"/>
                <a:cs typeface="Noto Sans JP"/>
              </a:defRPr>
            </a:pPr>
            <a:r>
              <a:rPr sz="975">
                <a:solidFill>
                  <a:srgbClr val="5C6B76"/>
                </a:solidFill>
                <a:latin typeface="Noto Sans JP"/>
                <a:ea typeface="Noto Sans JP"/>
                <a:cs typeface="Noto Sans JP"/>
              </a:rPr>
              <a:t>注：タイトル・説明でゲーム形式を確認できた作品を保守的に集計。2020・2021年は全提出作品の内訳を確認できないため除外。</a:t>
            </a:r>
          </a:p>
        </p:txBody>
      </p:sp>
    </p:spTree>
    <p:extLst>
      <p:ext uri="{BB962C8B-B14F-4D97-AF65-F5344CB8AC3E}">
        <p14:creationId xmlns:p14="http://schemas.microsoft.com/office/powerpoint/2010/main" val="19756166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2026-09-30T06:04:45.5220000Z</dcterms:created>
  <dcterms:modified xsi:type="dcterms:W3CDTF">2026-09-30T06:04:45.5220000Z</dcterms:modified>
</coreProperties>
</file>